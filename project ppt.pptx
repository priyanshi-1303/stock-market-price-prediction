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86" r:id="rId1"/>
  </p:sldMasterIdLst>
  <p:notesMasterIdLst>
    <p:notesMasterId r:id="rId15"/>
  </p:notesMasterIdLst>
  <p:sldIdLst>
    <p:sldId id="256" r:id="rId2"/>
    <p:sldId id="257" r:id="rId3"/>
    <p:sldId id="258" r:id="rId4"/>
    <p:sldId id="269" r:id="rId5"/>
    <p:sldId id="266" r:id="rId6"/>
    <p:sldId id="267" r:id="rId7"/>
    <p:sldId id="268" r:id="rId8"/>
    <p:sldId id="270" r:id="rId9"/>
    <p:sldId id="271" r:id="rId10"/>
    <p:sldId id="272" r:id="rId11"/>
    <p:sldId id="264" r:id="rId12"/>
    <p:sldId id="273" r:id="rId13"/>
    <p:sldId id="265" r:id="rId14"/>
  </p:sldIdLst>
  <p:sldSz cx="9144000" cy="5143500" type="screen16x9"/>
  <p:notesSz cx="6858000" cy="9144000"/>
  <p:embeddedFontLst>
    <p:embeddedFont>
      <p:font typeface="Garamond" panose="02020404030301010803" pitchFamily="18" charset="0"/>
      <p:regular r:id="rId16"/>
      <p:bold r:id="rId17"/>
      <p: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918" y="4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e29c9da6c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e29c9da6c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e29c9da6c5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e29c9da6c5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e29c9da6c5_0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e29c9da6c5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e29c9da6c5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e29c9da6c5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2700" y="0"/>
            <a:ext cx="9173370" cy="514216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a:xfrm>
            <a:off x="2019298" y="3778247"/>
            <a:ext cx="3910976" cy="209550"/>
          </a:xfrm>
        </p:spPr>
        <p:txBody>
          <a:bodyPr/>
          <a:lstStyle/>
          <a:p>
            <a:endParaRPr lang="en-IN"/>
          </a:p>
        </p:txBody>
      </p:sp>
      <p:sp>
        <p:nvSpPr>
          <p:cNvPr id="6" name="Slide Number Placeholder 5"/>
          <p:cNvSpPr>
            <a:spLocks noGrp="1"/>
          </p:cNvSpPr>
          <p:nvPr>
            <p:ph type="sldNum" sz="quarter" idx="12"/>
          </p:nvPr>
        </p:nvSpPr>
        <p:spPr>
          <a:xfrm>
            <a:off x="6717676" y="3778247"/>
            <a:ext cx="413375" cy="209550"/>
          </a:xfrm>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012252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94859504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661878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D59F3DE-BD5C-4EA8-B4E6-86E3806FFB91}" type="datetimeFigureOut">
              <a:rPr lang="en-IN" smtClean="0"/>
              <a:t>07/14/24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91945931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D59F3DE-BD5C-4EA8-B4E6-86E3806FFB91}" type="datetimeFigureOut">
              <a:rPr lang="en-IN" smtClean="0"/>
              <a:t>07/14/24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001919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D59F3DE-BD5C-4EA8-B4E6-86E3806FFB91}" type="datetimeFigureOut">
              <a:rPr lang="en-IN" smtClean="0"/>
              <a:t>07/14/24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144297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59F3DE-BD5C-4EA8-B4E6-86E3806FFB91}" type="datetimeFigureOut">
              <a:rPr lang="en-IN" smtClean="0"/>
              <a:t>07/14/24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541975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DD59F3DE-BD5C-4EA8-B4E6-86E3806FFB91}" type="datetimeFigureOut">
              <a:rPr lang="en-IN" smtClean="0"/>
              <a:t>07/14/24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42891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DD59F3DE-BD5C-4EA8-B4E6-86E3806FFB91}" type="datetimeFigureOut">
              <a:rPr lang="en-IN" smtClean="0"/>
              <a:t>07/14/24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6232627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DD59F3DE-BD5C-4EA8-B4E6-86E3806FFB91}" type="datetimeFigureOut">
              <a:rPr lang="en-IN" smtClean="0"/>
              <a:t>07/14/24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1479201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307845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Edit Master text styles</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883525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8545581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774120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280705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313461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D59F3DE-BD5C-4EA8-B4E6-86E3806FFB91}" type="datetimeFigureOut">
              <a:rPr lang="en-IN" smtClean="0"/>
              <a:t>07/14/24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671692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8"/>
        <p:cNvGrpSpPr/>
        <p:nvPr/>
      </p:nvGrpSpPr>
      <p:grpSpPr>
        <a:xfrm>
          <a:off x="0" y="0"/>
          <a:ext cx="0" cy="0"/>
          <a:chOff x="0" y="0"/>
          <a:chExt cx="0" cy="0"/>
        </a:xfrm>
      </p:grpSpPr>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419417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5142161"/>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D59F3DE-BD5C-4EA8-B4E6-86E3806FFB91}" type="datetimeFigureOut">
              <a:rPr lang="en-IN" smtClean="0"/>
              <a:t>07/14/24</a:t>
            </a:fld>
            <a:endParaRPr lang="en-IN"/>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04680835"/>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 id="2147483804" r:id="rId18"/>
  </p:sldLayoutIdLst>
  <p:hf sldNum="0" hdr="0" ftr="0" dt="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2852200" y="2731088"/>
            <a:ext cx="6098019" cy="599507"/>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dirty="0"/>
              <a:t>STOCK PRICE </a:t>
            </a:r>
            <a:r>
              <a:rPr lang="en-GB" dirty="0" smtClean="0"/>
              <a:t/>
            </a:r>
            <a:br>
              <a:rPr lang="en-GB" dirty="0" smtClean="0"/>
            </a:br>
            <a:r>
              <a:rPr lang="en-GB" dirty="0" smtClean="0"/>
              <a:t>PREDICTION </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3315292"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CONTENT</a:t>
            </a:r>
            <a:endParaRPr/>
          </a:p>
        </p:txBody>
      </p:sp>
      <p:sp>
        <p:nvSpPr>
          <p:cNvPr id="91" name="Google Shape;91;p14"/>
          <p:cNvSpPr txBox="1">
            <a:spLocks noGrp="1"/>
          </p:cNvSpPr>
          <p:nvPr>
            <p:ph type="body" idx="1"/>
          </p:nvPr>
        </p:nvSpPr>
        <p:spPr>
          <a:xfrm>
            <a:off x="666118" y="1625599"/>
            <a:ext cx="8166181" cy="2943275"/>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GB" dirty="0" smtClean="0"/>
              <a:t>Introduction</a:t>
            </a:r>
            <a:r>
              <a:rPr lang="en-GB" dirty="0" smtClean="0"/>
              <a:t> </a:t>
            </a:r>
            <a:endParaRPr dirty="0"/>
          </a:p>
          <a:p>
            <a:pPr marL="457200" lvl="0" indent="-342900" algn="l" rtl="0">
              <a:spcBef>
                <a:spcPts val="0"/>
              </a:spcBef>
              <a:spcAft>
                <a:spcPts val="0"/>
              </a:spcAft>
              <a:buSzPts val="1800"/>
              <a:buAutoNum type="arabicPeriod"/>
            </a:pPr>
            <a:r>
              <a:rPr lang="en-GB" dirty="0" smtClean="0"/>
              <a:t>Stock Market                                            </a:t>
            </a:r>
          </a:p>
          <a:p>
            <a:pPr marL="457200" lvl="0" indent="-342900" algn="l" rtl="0">
              <a:spcBef>
                <a:spcPts val="0"/>
              </a:spcBef>
              <a:spcAft>
                <a:spcPts val="0"/>
              </a:spcAft>
              <a:buSzPts val="1800"/>
              <a:buAutoNum type="arabicPeriod"/>
            </a:pPr>
            <a:r>
              <a:rPr lang="en-GB" dirty="0" smtClean="0"/>
              <a:t>Stock Market Prediction</a:t>
            </a:r>
          </a:p>
          <a:p>
            <a:pPr marL="457200" lvl="0" indent="-342900" algn="l" rtl="0">
              <a:spcBef>
                <a:spcPts val="0"/>
              </a:spcBef>
              <a:spcAft>
                <a:spcPts val="0"/>
              </a:spcAft>
              <a:buSzPts val="1800"/>
              <a:buAutoNum type="arabicPeriod"/>
            </a:pPr>
            <a:r>
              <a:rPr lang="en-GB" dirty="0" smtClean="0"/>
              <a:t>Linear Regression</a:t>
            </a:r>
          </a:p>
          <a:p>
            <a:pPr marL="457200" lvl="0" indent="-342900" algn="l" rtl="0">
              <a:spcBef>
                <a:spcPts val="0"/>
              </a:spcBef>
              <a:spcAft>
                <a:spcPts val="0"/>
              </a:spcAft>
              <a:buSzPts val="1800"/>
              <a:buAutoNum type="arabicPeriod"/>
            </a:pPr>
            <a:r>
              <a:rPr lang="en-GB" dirty="0" smtClean="0"/>
              <a:t>Discussion</a:t>
            </a:r>
          </a:p>
          <a:p>
            <a:pPr marL="457200" lvl="0" indent="-342900" algn="l" rtl="0">
              <a:spcBef>
                <a:spcPts val="0"/>
              </a:spcBef>
              <a:spcAft>
                <a:spcPts val="0"/>
              </a:spcAft>
              <a:buSzPts val="1800"/>
              <a:buAutoNum type="arabicPeriod"/>
            </a:pPr>
            <a:r>
              <a:rPr lang="en-GB" dirty="0" smtClean="0"/>
              <a:t>Result</a:t>
            </a:r>
            <a:endParaRPr dirty="0"/>
          </a:p>
          <a:p>
            <a:pPr marL="457200" lvl="0" indent="-342900" algn="l" rtl="0">
              <a:spcBef>
                <a:spcPts val="0"/>
              </a:spcBef>
              <a:spcAft>
                <a:spcPts val="0"/>
              </a:spcAft>
              <a:buSzPts val="1800"/>
              <a:buAutoNum type="arabicPeriod"/>
            </a:pPr>
            <a:r>
              <a:rPr lang="en-GB" dirty="0"/>
              <a:t>Conclusion </a:t>
            </a:r>
            <a:endParaRPr lang="en-GB" dirty="0" smtClean="0"/>
          </a:p>
          <a:p>
            <a:pPr marL="457200" lvl="0" indent="-342900" algn="l" rtl="0">
              <a:spcBef>
                <a:spcPts val="0"/>
              </a:spcBef>
              <a:spcAft>
                <a:spcPts val="0"/>
              </a:spcAft>
              <a:buSzPts val="1800"/>
              <a:buAutoNum type="arabicPeriod"/>
            </a:pPr>
            <a:r>
              <a:rPr lang="en-GB" dirty="0" smtClean="0"/>
              <a:t>Future Work</a:t>
            </a:r>
            <a:endParaRPr dirty="0"/>
          </a:p>
          <a:p>
            <a:pPr marL="457200" lvl="0" indent="-342900" algn="l" rtl="0">
              <a:spcBef>
                <a:spcPts val="0"/>
              </a:spcBef>
              <a:spcAft>
                <a:spcPts val="0"/>
              </a:spcAft>
              <a:buSzPts val="1800"/>
              <a:buAutoNum type="arabicPeriod"/>
            </a:pPr>
            <a:r>
              <a:rPr lang="en-GB" dirty="0"/>
              <a:t>References</a:t>
            </a:r>
            <a:endParaRPr dirty="0"/>
          </a:p>
        </p:txBody>
      </p:sp>
      <p:pic>
        <p:nvPicPr>
          <p:cNvPr id="4" name="Picture 3" descr="projects for python - stock price prediction using machine learning -  KaaShiv Infotech"/>
          <p:cNvPicPr/>
          <p:nvPr/>
        </p:nvPicPr>
        <p:blipFill>
          <a:blip r:embed="rId3">
            <a:extLst>
              <a:ext uri="{28A0092B-C50C-407E-A947-70E740481C1C}">
                <a14:useLocalDpi xmlns:a14="http://schemas.microsoft.com/office/drawing/2010/main" val="0"/>
              </a:ext>
            </a:extLst>
          </a:blip>
          <a:srcRect/>
          <a:stretch>
            <a:fillRect/>
          </a:stretch>
        </p:blipFill>
        <p:spPr bwMode="auto">
          <a:xfrm>
            <a:off x="4011081" y="1362971"/>
            <a:ext cx="3214992" cy="2709154"/>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3060955" y="494779"/>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ABSTRACT</a:t>
            </a:r>
            <a:endParaRPr/>
          </a:p>
        </p:txBody>
      </p:sp>
      <p:sp>
        <p:nvSpPr>
          <p:cNvPr id="97" name="Google Shape;97;p15"/>
          <p:cNvSpPr txBox="1">
            <a:spLocks noGrp="1"/>
          </p:cNvSpPr>
          <p:nvPr>
            <p:ph type="body" idx="1"/>
          </p:nvPr>
        </p:nvSpPr>
        <p:spPr>
          <a:xfrm>
            <a:off x="557118" y="1229875"/>
            <a:ext cx="7944985"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dirty="0"/>
              <a:t>Demand of Stock have become huge with Increased in popularity of Stock in Digital world. Prediction and Analysing stock can benefit People to think before buying or selling stocks. So, A New Stock Price Prediction through Deep Learning Algorithms has been </a:t>
            </a:r>
            <a:r>
              <a:rPr lang="en-GB" dirty="0" smtClean="0"/>
              <a:t>analysed </a:t>
            </a:r>
            <a:r>
              <a:rPr lang="en-GB" dirty="0"/>
              <a:t>and visualized. Through This System we can predict of any Company stock in the world. </a:t>
            </a:r>
            <a:r>
              <a:rPr lang="en-GB" dirty="0" smtClean="0"/>
              <a:t>     </a:t>
            </a:r>
            <a:endParaRPr dirty="0"/>
          </a:p>
        </p:txBody>
      </p:sp>
      <p:pic>
        <p:nvPicPr>
          <p:cNvPr id="4" name="Picture 3" descr="SMP-DL: a novel stock market prediction approach based on deep learning for  effective trend forecasting | Neural Computing and Applications"/>
          <p:cNvPicPr/>
          <p:nvPr/>
        </p:nvPicPr>
        <p:blipFill>
          <a:blip r:embed="rId3">
            <a:extLst>
              <a:ext uri="{28A0092B-C50C-407E-A947-70E740481C1C}">
                <a14:useLocalDpi xmlns:a14="http://schemas.microsoft.com/office/drawing/2010/main" val="0"/>
              </a:ext>
            </a:extLst>
          </a:blip>
          <a:srcRect/>
          <a:stretch>
            <a:fillRect/>
          </a:stretch>
        </p:blipFill>
        <p:spPr bwMode="auto">
          <a:xfrm>
            <a:off x="4553833" y="2494919"/>
            <a:ext cx="3609157" cy="2125527"/>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INTRODUCTION</a:t>
            </a:r>
            <a:endParaRPr lang="en-IN" dirty="0"/>
          </a:p>
        </p:txBody>
      </p:sp>
      <p:sp>
        <p:nvSpPr>
          <p:cNvPr id="3" name="Text Placeholder 2"/>
          <p:cNvSpPr>
            <a:spLocks noGrp="1"/>
          </p:cNvSpPr>
          <p:nvPr>
            <p:ph type="body" idx="1"/>
          </p:nvPr>
        </p:nvSpPr>
        <p:spPr>
          <a:xfrm>
            <a:off x="617674" y="1247460"/>
            <a:ext cx="7708816" cy="3251872"/>
          </a:xfrm>
        </p:spPr>
        <p:txBody>
          <a:bodyPr>
            <a:normAutofit fontScale="92500" lnSpcReduction="10000"/>
          </a:bodyPr>
          <a:lstStyle/>
          <a:p>
            <a:r>
              <a:rPr lang="en-US" dirty="0"/>
              <a:t>It begins with an introduction to existing stock prediction methods like fundamental and technical analysis. The proposed system would use machine learning models to analyze historical stock price data and sentiment analysis of news articles to predict future stock prices, volatility, and market trends.</a:t>
            </a:r>
            <a:endParaRPr lang="en-IN" dirty="0"/>
          </a:p>
          <a:p>
            <a:r>
              <a:rPr lang="en-US" dirty="0" smtClean="0"/>
              <a:t> </a:t>
            </a:r>
            <a:r>
              <a:rPr lang="en-US" dirty="0"/>
              <a:t>Implementing the concept of algorithmic trading, which uses automated, preprogrammed trading strategies to predict stock prices. Time series forecasting (predicting future values based on historical values) applies well to stock forecasting.</a:t>
            </a:r>
            <a:endParaRPr lang="en-IN" dirty="0"/>
          </a:p>
          <a:p>
            <a:r>
              <a:rPr lang="en-GB" dirty="0"/>
              <a:t>Demand of Stock have become huge with Increased in popularity of Stock in Digital world. Prediction and Analysing stock can benefit People to think before buying or selling stocks. So, A New Stock Price Prediction through Deep Learning Algorithms has been analysed and visualized. Through This System we can predict of any Company stock in the world.</a:t>
            </a:r>
            <a:endParaRPr lang="en-IN" dirty="0"/>
          </a:p>
          <a:p>
            <a:endParaRPr lang="en-IN" dirty="0"/>
          </a:p>
        </p:txBody>
      </p:sp>
    </p:spTree>
    <p:extLst>
      <p:ext uri="{BB962C8B-B14F-4D97-AF65-F5344CB8AC3E}">
        <p14:creationId xmlns:p14="http://schemas.microsoft.com/office/powerpoint/2010/main" val="6016427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STOCK MARKET</a:t>
            </a:r>
            <a:endParaRPr lang="en-IN" dirty="0"/>
          </a:p>
        </p:txBody>
      </p:sp>
      <p:sp>
        <p:nvSpPr>
          <p:cNvPr id="3" name="Text Placeholder 2"/>
          <p:cNvSpPr>
            <a:spLocks noGrp="1"/>
          </p:cNvSpPr>
          <p:nvPr>
            <p:ph type="body" idx="1"/>
          </p:nvPr>
        </p:nvSpPr>
        <p:spPr>
          <a:xfrm>
            <a:off x="872011" y="1610797"/>
            <a:ext cx="7454480" cy="2815868"/>
          </a:xfrm>
        </p:spPr>
        <p:txBody>
          <a:bodyPr>
            <a:normAutofit/>
          </a:bodyPr>
          <a:lstStyle/>
          <a:p>
            <a:r>
              <a:rPr lang="en-IN" dirty="0" smtClean="0"/>
              <a:t>Stock market is a place where buying and selling of shares happen for publicly listed companies. Stock exchange is the mediator that allows buying and selling of shares. </a:t>
            </a:r>
          </a:p>
          <a:p>
            <a:r>
              <a:rPr lang="en-US" dirty="0"/>
              <a:t>Amsterdam stock exchange is the oldest stock exchange that was established in </a:t>
            </a:r>
            <a:r>
              <a:rPr lang="en-US" dirty="0" smtClean="0"/>
              <a:t>1602. Top </a:t>
            </a:r>
            <a:r>
              <a:rPr lang="en-US" dirty="0"/>
              <a:t>stock exchanges in united state are </a:t>
            </a:r>
            <a:r>
              <a:rPr lang="en-US" dirty="0" smtClean="0"/>
              <a:t>New York </a:t>
            </a:r>
            <a:r>
              <a:rPr lang="en-US" dirty="0"/>
              <a:t>stock exchange, </a:t>
            </a:r>
            <a:r>
              <a:rPr lang="en-US" dirty="0" smtClean="0"/>
              <a:t>American </a:t>
            </a:r>
            <a:r>
              <a:rPr lang="en-US" dirty="0"/>
              <a:t>stock exchange and Chicago board operation </a:t>
            </a:r>
            <a:r>
              <a:rPr lang="en-US" dirty="0" smtClean="0"/>
              <a:t>16. In India </a:t>
            </a:r>
            <a:r>
              <a:rPr lang="en-US" dirty="0"/>
              <a:t>we have the Bombay stock exchange established in 1875 </a:t>
            </a:r>
            <a:r>
              <a:rPr lang="en-US" dirty="0" smtClean="0"/>
              <a:t>and </a:t>
            </a:r>
            <a:r>
              <a:rPr lang="en-US" dirty="0"/>
              <a:t>it's </a:t>
            </a:r>
            <a:r>
              <a:rPr lang="en-US" dirty="0" smtClean="0"/>
              <a:t>Asia's </a:t>
            </a:r>
            <a:r>
              <a:rPr lang="en-US" dirty="0"/>
              <a:t>first stock exchange We also have national stock exchange or NSE. </a:t>
            </a:r>
            <a:endParaRPr lang="en-IN" dirty="0"/>
          </a:p>
        </p:txBody>
      </p:sp>
    </p:spTree>
    <p:extLst>
      <p:ext uri="{BB962C8B-B14F-4D97-AF65-F5344CB8AC3E}">
        <p14:creationId xmlns:p14="http://schemas.microsoft.com/office/powerpoint/2010/main" val="12357109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STOCK MARKET PREDICTION</a:t>
            </a:r>
            <a:endParaRPr lang="en-IN" dirty="0"/>
          </a:p>
        </p:txBody>
      </p:sp>
      <p:sp>
        <p:nvSpPr>
          <p:cNvPr id="3" name="Text Placeholder 2"/>
          <p:cNvSpPr>
            <a:spLocks noGrp="1"/>
          </p:cNvSpPr>
          <p:nvPr>
            <p:ph type="body" idx="1"/>
          </p:nvPr>
        </p:nvSpPr>
        <p:spPr>
          <a:xfrm>
            <a:off x="599506" y="1550241"/>
            <a:ext cx="7714873" cy="2834034"/>
          </a:xfrm>
        </p:spPr>
        <p:txBody>
          <a:bodyPr>
            <a:normAutofit/>
          </a:bodyPr>
          <a:lstStyle/>
          <a:p>
            <a:r>
              <a:rPr lang="en-IN" dirty="0" smtClean="0"/>
              <a:t>Stock </a:t>
            </a:r>
            <a:r>
              <a:rPr lang="en-IN" dirty="0"/>
              <a:t>M</a:t>
            </a:r>
            <a:r>
              <a:rPr lang="en-IN" dirty="0" smtClean="0"/>
              <a:t>arket Prediction helps us to determine the future value of company stock and other financial instruments traded on an exchange.</a:t>
            </a:r>
          </a:p>
          <a:p>
            <a:r>
              <a:rPr lang="en-US" dirty="0" smtClean="0"/>
              <a:t>Whole </a:t>
            </a:r>
            <a:r>
              <a:rPr lang="en-US" dirty="0"/>
              <a:t>idea of predicting stock prices is to gain significant profit, predicting how stock market will perform is a difficult task to do There are all others factors in prediction such as physical and psychological factor, rational and irrational </a:t>
            </a:r>
            <a:r>
              <a:rPr lang="en-US" dirty="0" err="1"/>
              <a:t>behaviour</a:t>
            </a:r>
            <a:r>
              <a:rPr lang="en-US" dirty="0"/>
              <a:t> etc. All these factors combined to make share prices dynamic and </a:t>
            </a:r>
            <a:r>
              <a:rPr lang="en-US" dirty="0" smtClean="0"/>
              <a:t>volatile . </a:t>
            </a:r>
          </a:p>
          <a:p>
            <a:r>
              <a:rPr lang="en-US" dirty="0" smtClean="0"/>
              <a:t>So </a:t>
            </a:r>
            <a:r>
              <a:rPr lang="en-US" dirty="0"/>
              <a:t>we will use machine learning techniques to predict the stock prices of two companies tesla </a:t>
            </a:r>
            <a:r>
              <a:rPr lang="en-US" dirty="0" smtClean="0"/>
              <a:t>and Google. Will </a:t>
            </a:r>
            <a:r>
              <a:rPr lang="en-US" dirty="0"/>
              <a:t>be using linear aggression </a:t>
            </a:r>
            <a:r>
              <a:rPr lang="en-US" dirty="0" smtClean="0"/>
              <a:t>algorithm.</a:t>
            </a:r>
            <a:endParaRPr lang="en-IN" dirty="0"/>
          </a:p>
        </p:txBody>
      </p:sp>
    </p:spTree>
    <p:extLst>
      <p:ext uri="{BB962C8B-B14F-4D97-AF65-F5344CB8AC3E}">
        <p14:creationId xmlns:p14="http://schemas.microsoft.com/office/powerpoint/2010/main" val="15070161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LINEAR REGRESSION</a:t>
            </a:r>
            <a:endParaRPr lang="en-IN" dirty="0"/>
          </a:p>
        </p:txBody>
      </p:sp>
      <p:sp>
        <p:nvSpPr>
          <p:cNvPr id="3" name="Text Placeholder 2"/>
          <p:cNvSpPr>
            <a:spLocks noGrp="1"/>
          </p:cNvSpPr>
          <p:nvPr>
            <p:ph type="body" idx="1"/>
          </p:nvPr>
        </p:nvSpPr>
        <p:spPr>
          <a:xfrm>
            <a:off x="532894" y="1871189"/>
            <a:ext cx="8299405" cy="2697686"/>
          </a:xfrm>
        </p:spPr>
        <p:txBody>
          <a:bodyPr/>
          <a:lstStyle/>
          <a:p>
            <a:r>
              <a:rPr lang="en-IN" dirty="0" smtClean="0"/>
              <a:t>Linear Regression is a supervised learning algorithm to predict the outcome of a continuous variable.</a:t>
            </a:r>
          </a:p>
          <a:p>
            <a:r>
              <a:rPr lang="en-IN" dirty="0" smtClean="0"/>
              <a:t>It can be used to calculate the total revenue of a company or total units expected to be sold of the product.</a:t>
            </a:r>
          </a:p>
          <a:p>
            <a:r>
              <a:rPr lang="en-IN" dirty="0" smtClean="0"/>
              <a:t>It used for whether prediction, and stock price prediction.</a:t>
            </a:r>
            <a:endParaRPr lang="en-IN" dirty="0"/>
          </a:p>
        </p:txBody>
      </p:sp>
    </p:spTree>
    <p:extLst>
      <p:ext uri="{BB962C8B-B14F-4D97-AF65-F5344CB8AC3E}">
        <p14:creationId xmlns:p14="http://schemas.microsoft.com/office/powerpoint/2010/main" val="21888930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030" y="460229"/>
            <a:ext cx="8520600" cy="472339"/>
          </a:xfrm>
        </p:spPr>
        <p:txBody>
          <a:bodyPr>
            <a:normAutofit fontScale="90000"/>
          </a:bodyPr>
          <a:lstStyle/>
          <a:p>
            <a:r>
              <a:rPr lang="en-IN" dirty="0" smtClean="0"/>
              <a:t>DISCUSSION</a:t>
            </a:r>
            <a:endParaRPr lang="en-IN" dirty="0"/>
          </a:p>
        </p:txBody>
      </p:sp>
      <p:sp>
        <p:nvSpPr>
          <p:cNvPr id="3" name="Text Placeholder 2"/>
          <p:cNvSpPr>
            <a:spLocks noGrp="1"/>
          </p:cNvSpPr>
          <p:nvPr>
            <p:ph type="body" idx="1"/>
          </p:nvPr>
        </p:nvSpPr>
        <p:spPr>
          <a:xfrm>
            <a:off x="2207113" y="1617436"/>
            <a:ext cx="8520600" cy="3339000"/>
          </a:xfrm>
        </p:spPr>
        <p:txBody>
          <a:bodyPr/>
          <a:lstStyle/>
          <a:p>
            <a:r>
              <a:rPr lang="en-US" dirty="0"/>
              <a:t>Importing Data</a:t>
            </a:r>
            <a:endParaRPr lang="en-IN" dirty="0"/>
          </a:p>
          <a:p>
            <a:r>
              <a:rPr lang="en-US" dirty="0"/>
              <a:t>Preprocess the data – Train and Test</a:t>
            </a:r>
            <a:endParaRPr lang="en-IN" dirty="0"/>
          </a:p>
          <a:p>
            <a:r>
              <a:rPr lang="en-US" dirty="0"/>
              <a:t>Split the data into training/ test sets</a:t>
            </a:r>
            <a:endParaRPr lang="en-IN" dirty="0"/>
          </a:p>
          <a:p>
            <a:r>
              <a:rPr lang="en-US" dirty="0"/>
              <a:t>Creating and Training the Model</a:t>
            </a:r>
            <a:endParaRPr lang="en-IN" dirty="0"/>
          </a:p>
          <a:p>
            <a:r>
              <a:rPr lang="en-US" dirty="0"/>
              <a:t>Making Predictions and plot the output</a:t>
            </a:r>
            <a:endParaRPr lang="en-IN" dirty="0"/>
          </a:p>
          <a:p>
            <a:r>
              <a:rPr lang="en-US" dirty="0"/>
              <a:t>Evaluating and Improving Predictions</a:t>
            </a:r>
            <a:endParaRPr lang="en-IN" dirty="0"/>
          </a:p>
          <a:p>
            <a:endParaRPr lang="en-IN" dirty="0"/>
          </a:p>
        </p:txBody>
      </p:sp>
    </p:spTree>
    <p:extLst>
      <p:ext uri="{BB962C8B-B14F-4D97-AF65-F5344CB8AC3E}">
        <p14:creationId xmlns:p14="http://schemas.microsoft.com/office/powerpoint/2010/main" val="31446627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RESULT</a:t>
            </a:r>
            <a:endParaRPr lang="en-IN" dirty="0"/>
          </a:p>
        </p:txBody>
      </p:sp>
      <p:sp>
        <p:nvSpPr>
          <p:cNvPr id="3" name="Text Placeholder 2"/>
          <p:cNvSpPr>
            <a:spLocks noGrp="1"/>
          </p:cNvSpPr>
          <p:nvPr>
            <p:ph type="body" idx="1"/>
          </p:nvPr>
        </p:nvSpPr>
        <p:spPr>
          <a:xfrm>
            <a:off x="311700" y="1229875"/>
            <a:ext cx="8172236" cy="3590406"/>
          </a:xfrm>
        </p:spPr>
        <p:txBody>
          <a:bodyPr/>
          <a:lstStyle/>
          <a:p>
            <a:pPr marL="114300" indent="0">
              <a:buNone/>
            </a:pPr>
            <a:r>
              <a:rPr lang="en-IN" dirty="0" smtClean="0"/>
              <a:t>Tesla Stock Prices Prediction:</a:t>
            </a:r>
            <a:endParaRPr lang="en-IN"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2222416" y="1647131"/>
            <a:ext cx="6110130" cy="2961203"/>
          </a:xfrm>
          <a:prstGeom prst="rect">
            <a:avLst/>
          </a:prstGeom>
        </p:spPr>
      </p:pic>
    </p:spTree>
    <p:extLst>
      <p:ext uri="{BB962C8B-B14F-4D97-AF65-F5344CB8AC3E}">
        <p14:creationId xmlns:p14="http://schemas.microsoft.com/office/powerpoint/2010/main" val="10049168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RESULT</a:t>
            </a:r>
            <a:endParaRPr lang="en-IN" dirty="0"/>
          </a:p>
        </p:txBody>
      </p:sp>
      <p:sp>
        <p:nvSpPr>
          <p:cNvPr id="3" name="Text Placeholder 2"/>
          <p:cNvSpPr>
            <a:spLocks noGrp="1"/>
          </p:cNvSpPr>
          <p:nvPr>
            <p:ph type="body" idx="1"/>
          </p:nvPr>
        </p:nvSpPr>
        <p:spPr/>
        <p:txBody>
          <a:bodyPr/>
          <a:lstStyle/>
          <a:p>
            <a:pPr marL="114300" indent="0">
              <a:buNone/>
            </a:pPr>
            <a:r>
              <a:rPr lang="en-IN" dirty="0" smtClean="0"/>
              <a:t>Google stock price prediction:</a:t>
            </a:r>
            <a:endParaRPr lang="en-IN"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3205296" y="1133757"/>
            <a:ext cx="5131435" cy="3531235"/>
          </a:xfrm>
          <a:prstGeom prst="rect">
            <a:avLst/>
          </a:prstGeom>
        </p:spPr>
      </p:pic>
    </p:spTree>
    <p:extLst>
      <p:ext uri="{BB962C8B-B14F-4D97-AF65-F5344CB8AC3E}">
        <p14:creationId xmlns:p14="http://schemas.microsoft.com/office/powerpoint/2010/main" val="359984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2664476" y="549279"/>
            <a:ext cx="6155712" cy="63156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 </a:t>
            </a:r>
            <a:endParaRPr/>
          </a:p>
        </p:txBody>
      </p:sp>
      <p:sp>
        <p:nvSpPr>
          <p:cNvPr id="133" name="Google Shape;133;p21"/>
          <p:cNvSpPr txBox="1">
            <a:spLocks noGrp="1"/>
          </p:cNvSpPr>
          <p:nvPr>
            <p:ph type="body" idx="1"/>
          </p:nvPr>
        </p:nvSpPr>
        <p:spPr>
          <a:xfrm>
            <a:off x="690342" y="1562351"/>
            <a:ext cx="7823873" cy="291881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We can see the Prediction, analysis and Visualization of Google stock Price hough applying Deep learning algorithms such as LSTM, DENSE, DROP OUT and SEQUENTIAL.</a:t>
            </a:r>
            <a:endParaRPr/>
          </a:p>
          <a:p>
            <a:pPr marL="0" lvl="0" indent="0" algn="l" rtl="0">
              <a:spcBef>
                <a:spcPts val="1200"/>
              </a:spcBef>
              <a:spcAft>
                <a:spcPts val="0"/>
              </a:spcAft>
              <a:buNone/>
            </a:pPr>
            <a:r>
              <a:rPr lang="en-GB"/>
              <a:t>Same way we can use any company Stock Dataset directly apply this algorithms it will give us the correct prediction.</a:t>
            </a:r>
            <a:endParaRPr/>
          </a:p>
          <a:p>
            <a:pPr marL="0" lvl="0" indent="0" algn="l" rtl="0">
              <a:spcBef>
                <a:spcPts val="1200"/>
              </a:spcBef>
              <a:spcAft>
                <a:spcPts val="1200"/>
              </a:spcAft>
              <a:buNone/>
            </a:pPr>
            <a:r>
              <a:rPr lang="en-GB"/>
              <a:t>This System is Successfully runs on any system even on Cloud platforms.</a:t>
            </a: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FUTURE WORK</a:t>
            </a:r>
            <a:endParaRPr lang="en-IN" dirty="0"/>
          </a:p>
        </p:txBody>
      </p:sp>
      <p:sp>
        <p:nvSpPr>
          <p:cNvPr id="3" name="Text Placeholder 2"/>
          <p:cNvSpPr>
            <a:spLocks noGrp="1"/>
          </p:cNvSpPr>
          <p:nvPr>
            <p:ph type="body" idx="1"/>
          </p:nvPr>
        </p:nvSpPr>
        <p:spPr>
          <a:xfrm>
            <a:off x="835676" y="1701631"/>
            <a:ext cx="7272811" cy="2767423"/>
          </a:xfrm>
        </p:spPr>
        <p:txBody>
          <a:bodyPr/>
          <a:lstStyle/>
          <a:p>
            <a:r>
              <a:rPr lang="en-US" dirty="0"/>
              <a:t>Machine Learning and Data science is a game changer in this domain so there is a lot of data to find patterns in for predicting with high degree of accuracy.</a:t>
            </a:r>
            <a:endParaRPr lang="en-IN" dirty="0"/>
          </a:p>
          <a:p>
            <a:r>
              <a:rPr lang="en-US" dirty="0"/>
              <a:t>In future we will try to predict the values based on multiple factors such as politics, global economic conditions, unexpected events like </a:t>
            </a:r>
            <a:r>
              <a:rPr lang="en-US" dirty="0" err="1"/>
              <a:t>covid</a:t>
            </a:r>
            <a:r>
              <a:rPr lang="en-US" dirty="0"/>
              <a:t>, companies financial performance, and so on.</a:t>
            </a:r>
            <a:endParaRPr lang="en-IN" dirty="0"/>
          </a:p>
          <a:p>
            <a:r>
              <a:rPr lang="en-US" dirty="0"/>
              <a:t>Decided to implement a simple User Interface to operate this whole process for users so to make people engage in Stock market.</a:t>
            </a:r>
            <a:endParaRPr lang="en-IN" dirty="0"/>
          </a:p>
          <a:p>
            <a:endParaRPr lang="en-IN" dirty="0"/>
          </a:p>
        </p:txBody>
      </p:sp>
    </p:spTree>
    <p:extLst>
      <p:ext uri="{BB962C8B-B14F-4D97-AF65-F5344CB8AC3E}">
        <p14:creationId xmlns:p14="http://schemas.microsoft.com/office/powerpoint/2010/main" val="13298951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title"/>
          </p:nvPr>
        </p:nvSpPr>
        <p:spPr>
          <a:xfrm>
            <a:off x="3121512"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REFRENCES </a:t>
            </a:r>
            <a:endParaRPr/>
          </a:p>
        </p:txBody>
      </p:sp>
      <p:sp>
        <p:nvSpPr>
          <p:cNvPr id="3" name="Text Placeholder 2"/>
          <p:cNvSpPr>
            <a:spLocks noGrp="1"/>
          </p:cNvSpPr>
          <p:nvPr>
            <p:ph type="body" idx="1"/>
          </p:nvPr>
        </p:nvSpPr>
        <p:spPr>
          <a:xfrm>
            <a:off x="575285" y="1126801"/>
            <a:ext cx="7775428" cy="3536033"/>
          </a:xfrm>
        </p:spPr>
        <p:txBody>
          <a:bodyPr/>
          <a:lstStyle/>
          <a:p>
            <a:r>
              <a:rPr lang="en-IN" dirty="0"/>
              <a:t> Fischer, T., &amp; Krauss, C. (2018). Deep learning with long short-term memory networks for financial market predictions. </a:t>
            </a:r>
            <a:r>
              <a:rPr lang="en-IN" i="1" dirty="0"/>
              <a:t>European Journal of Operational Research</a:t>
            </a:r>
            <a:r>
              <a:rPr lang="en-IN" dirty="0"/>
              <a:t>, 270(2), 654-669.</a:t>
            </a:r>
          </a:p>
          <a:p>
            <a:r>
              <a:rPr lang="en-IN" dirty="0"/>
              <a:t>Patel, J., Shah, S., Thakkar, (2015). Predicting stock market index using fusion of machine learning techniques. </a:t>
            </a:r>
            <a:r>
              <a:rPr lang="en-IN" i="1" dirty="0"/>
              <a:t>Expert Systems with Applications</a:t>
            </a:r>
            <a:r>
              <a:rPr lang="en-IN" dirty="0"/>
              <a:t>, 42(4), 2162-2172.</a:t>
            </a:r>
          </a:p>
          <a:p>
            <a:r>
              <a:rPr lang="en-IN" dirty="0"/>
              <a:t>  Brownlee, J. (2018). </a:t>
            </a:r>
            <a:r>
              <a:rPr lang="en-IN" i="1" dirty="0"/>
              <a:t>Introduction to Time Series Forecasting with Python: How to Prepare Data and Develop Models to Predict the Future</a:t>
            </a:r>
            <a:r>
              <a:rPr lang="en-IN" dirty="0"/>
              <a:t>. Machine Learning Mastery.</a:t>
            </a:r>
          </a:p>
          <a:p>
            <a:r>
              <a:rPr lang="en-IN" dirty="0"/>
              <a:t>  Towards Data Science articles on stock market prediction using machine learning.</a:t>
            </a:r>
          </a:p>
          <a:p>
            <a:r>
              <a:rPr lang="en-US" dirty="0"/>
              <a:t>T say, R. S. (2010). </a:t>
            </a:r>
            <a:r>
              <a:rPr lang="en-US" i="1" dirty="0"/>
              <a:t>Analysis of Financial Time Series</a:t>
            </a:r>
            <a:r>
              <a:rPr lang="en-US" dirty="0"/>
              <a:t>. </a:t>
            </a:r>
            <a:endParaRPr lang="en-I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1872</TotalTime>
  <Words>810</Words>
  <Application>Microsoft Office PowerPoint</Application>
  <PresentationFormat>On-screen Show (16:9)</PresentationFormat>
  <Paragraphs>53</Paragraphs>
  <Slides>13</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Garamond</vt:lpstr>
      <vt:lpstr>Arial</vt:lpstr>
      <vt:lpstr>Organic</vt:lpstr>
      <vt:lpstr>STOCK PRICE  PREDICTION </vt:lpstr>
      <vt:lpstr>CONTENT</vt:lpstr>
      <vt:lpstr>ABSTRACT</vt:lpstr>
      <vt:lpstr>INTRODUCTION</vt:lpstr>
      <vt:lpstr>STOCK MARKET</vt:lpstr>
      <vt:lpstr>STOCK MARKET PREDICTION</vt:lpstr>
      <vt:lpstr>LINEAR REGRESSION</vt:lpstr>
      <vt:lpstr>DISCUSSION</vt:lpstr>
      <vt:lpstr>RESULT</vt:lpstr>
      <vt:lpstr>RESULT</vt:lpstr>
      <vt:lpstr>CONCLUSION </vt:lpstr>
      <vt:lpstr>FUTURE WORK</vt:lpstr>
      <vt:lpstr>REFRENCES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PRICE PREDICTION</dc:title>
  <dc:creator>DELL</dc:creator>
  <cp:lastModifiedBy>DELL</cp:lastModifiedBy>
  <cp:revision>9</cp:revision>
  <dcterms:modified xsi:type="dcterms:W3CDTF">2024-07-15T09:22:48Z</dcterms:modified>
</cp:coreProperties>
</file>